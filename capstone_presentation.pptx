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200400" cy="3200400"/>
          </a:xfrm>
          <a:prstGeom prst="ellipse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48640"/>
            <a:ext cx="237744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</a:rPr>
              <a:t>캡스톤종합프로젝트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AI 기반</a:t>
            </a:r>
            <a:endParaRPr lang="en-US" sz="4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프로젝트 관리 도구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C39A"/>
                </a:solidFill>
              </a:rPr>
              <a:t>RAG 파이프라인 · 멀티소스 통합 · 적응형 피드백 학습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32004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팀원: 오민규  </a:t>
            </a:r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|  2026.06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</a:rPr>
              <a:t>문제 정의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2651760" cy="32004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📁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정보가 분산되어 있다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5603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Git 커밋, 회의록, 태스크, 문서가 각각 다른 곳에 존재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한눈에 진행 상황 파악 불가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55848" y="1051560"/>
            <a:ext cx="2651760" cy="32004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55848" y="12344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493008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수동 탐색의 비효율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93008" y="25603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여러 도구를 오가며 정보를 직접 찾아야 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질의응답 자동화 필요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54496" y="1051560"/>
            <a:ext cx="2651760" cy="3200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54496" y="12344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91656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LLM의 가능성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91656" y="25603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EDF7"/>
                </a:solidFill>
              </a:rPr>
              <a:t>LLM은 강력하지만 프로젝트 컨텍스트 없이는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0EDF7"/>
                </a:solidFill>
              </a:rPr>
              <a:t>정확한 답변 생성 불가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26080" y="4526280"/>
            <a:ext cx="329184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45262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→ RAG 기반 통합 질의응답 시스템으로 해결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</a:rPr>
              <a:t>시스템 개요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3796" y="1005840"/>
            <a:ext cx="150876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3796" y="100584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Electron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35708" y="1005840"/>
            <a:ext cx="150876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35708" y="100584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TypeScript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17620" y="1005840"/>
            <a:ext cx="150876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17620" y="100584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React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99532" y="1005840"/>
            <a:ext cx="150876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9532" y="100584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SQLite (sql.js)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81444" y="1005840"/>
            <a:ext cx="150876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81444" y="100584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OpenAI/Gemini/Claude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536192"/>
            <a:ext cx="1993392" cy="3063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1609344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Sources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084832"/>
            <a:ext cx="1901952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2212848"/>
            <a:ext cx="1773936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212848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Git Commits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" y="2788920"/>
            <a:ext cx="1773936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78892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Meeting Notes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4048" y="3364992"/>
            <a:ext cx="1773936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364992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Tasks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84048" y="3941064"/>
            <a:ext cx="1773936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941064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Documents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276856" y="27432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›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2450592" y="1536192"/>
            <a:ext cx="1993392" cy="3063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450592" y="1609344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RAG Pipeline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496312" y="2084832"/>
            <a:ext cx="1901952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0" y="2212848"/>
            <a:ext cx="1773936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0" y="2212848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Preprocessing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60320" y="2788920"/>
            <a:ext cx="1773936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0" y="278892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Chunking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560320" y="3364992"/>
            <a:ext cx="1773936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0" y="3364992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Scoring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560320" y="3941064"/>
            <a:ext cx="1773936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60320" y="3941064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Top-K Select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453128" y="27432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›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4626864" y="1536192"/>
            <a:ext cx="1993392" cy="3063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626864" y="1609344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LLM Layer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672584" y="2084832"/>
            <a:ext cx="1901952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36592" y="2212848"/>
            <a:ext cx="1773936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36592" y="2212848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Prompt Build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36592" y="2788920"/>
            <a:ext cx="1773936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36592" y="278892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LLM API Call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736592" y="3364992"/>
            <a:ext cx="1773936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36592" y="3364992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Parse Response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736592" y="3941064"/>
            <a:ext cx="1773936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36592" y="3941064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Suggested Actions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629400" y="27432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›</a:t>
            </a:r>
            <a:endParaRPr lang="en-US" sz="2200" dirty="0"/>
          </a:p>
        </p:txBody>
      </p:sp>
      <p:sp>
        <p:nvSpPr>
          <p:cNvPr id="50" name="Shape 48"/>
          <p:cNvSpPr/>
          <p:nvPr/>
        </p:nvSpPr>
        <p:spPr>
          <a:xfrm>
            <a:off x="6803136" y="1536192"/>
            <a:ext cx="1993392" cy="3063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803136" y="1609344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Adaptive Learning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848856" y="2084832"/>
            <a:ext cx="1901952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12864" y="2212848"/>
            <a:ext cx="1773936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12864" y="2212848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User Feedback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912864" y="2788920"/>
            <a:ext cx="1773936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12864" y="278892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Bayesian Update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912864" y="3364992"/>
            <a:ext cx="1773936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12864" y="3364992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Weight Learning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912864" y="3941064"/>
            <a:ext cx="1773936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12864" y="3941064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Param Tuning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</a:rPr>
              <a:t>핵심 기능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4가지 데이터 소스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931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5448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🔀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15727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Git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86537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커밋 이력 · 브랜치 정보 · 변경 파일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50008"/>
            <a:ext cx="3931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395728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43000" y="241401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Meeting Notes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270662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회의록 · 결정사항 · 액션아이템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91256"/>
            <a:ext cx="3931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236976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43000" y="325526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Tasks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54787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태스크 상태 · 우선순위 · 담당자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032504"/>
            <a:ext cx="3931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4078224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43000" y="40965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Documents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3891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로컬 파일 · FTS 전문검색 지원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5가지 분석 도구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54880" y="1508760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508760"/>
            <a:ext cx="54864" cy="5669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5361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Git Progress Analyzer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182880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커밋 기반 진행 분석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185416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185416"/>
            <a:ext cx="54864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22128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Meeting Summarizer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250545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회의록 핵심 요약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2862072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862072"/>
            <a:ext cx="54864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28895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Task Status Query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37760" y="318211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태스크 현황 조회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3538728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538728"/>
            <a:ext cx="54864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3566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Document Search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37760" y="385876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문서 내용 검색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0" y="4215384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54880" y="4215384"/>
            <a:ext cx="54864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42428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Cross-source Report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937760" y="4535424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멀티소스 종합 분석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</a:rPr>
              <a:t>RAG 파이프라인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1005840"/>
            <a:ext cx="1508760" cy="3566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097280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7472" y="18745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전처리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" y="2331720"/>
            <a:ext cx="123444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242316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0F2FE"/>
                </a:solidFill>
              </a:rPr>
              <a:t>한국어 조사 분리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0F2FE"/>
                </a:solidFill>
              </a:rPr>
              <a:t>불용어 제거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0F2FE"/>
                </a:solidFill>
              </a:rPr>
              <a:t>동의어 확장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0F2FE"/>
                </a:solidFill>
              </a:rPr>
              <a:t>키워드 추출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837944" y="23774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2E8F0"/>
                </a:solidFill>
              </a:rPr>
              <a:t>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066544" y="1005840"/>
            <a:ext cx="1508760" cy="3566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05456" y="1097280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05456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66544" y="18745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청킹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203704" y="2331720"/>
            <a:ext cx="123444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39696" y="242316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0F2FE"/>
                </a:solidFill>
              </a:rPr>
              <a:t>소스별 최적 전략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0F2FE"/>
                </a:solidFill>
              </a:rPr>
              <a:t>회의록: 발언자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0F2FE"/>
                </a:solidFill>
              </a:rPr>
              <a:t>문서: 헤더(##)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0F2FE"/>
                </a:solidFill>
              </a:rPr>
              <a:t>Git: 커밋 단위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57016" y="23774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2E8F0"/>
                </a:solidFill>
              </a:rPr>
              <a:t>›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785616" y="1005840"/>
            <a:ext cx="1508760" cy="3566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24528" y="1097280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24528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785616" y="18745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스코어링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922776" y="2331720"/>
            <a:ext cx="123444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58768" y="242316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0F2FE"/>
                </a:solidFill>
              </a:rPr>
              <a:t>7개 가중치 적용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0F2FE"/>
                </a:solidFill>
              </a:rPr>
              <a:t>keywordBase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0F2FE"/>
                </a:solidFill>
              </a:rPr>
              <a:t>freqBonus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0F2FE"/>
                </a:solidFill>
              </a:rPr>
              <a:t>titleMatch 등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76088" y="23774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2E8F0"/>
                </a:solidFill>
              </a:rPr>
              <a:t>›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5504688" y="1005840"/>
            <a:ext cx="1508760" cy="3566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0" y="1097280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04688" y="18745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Top-K 선택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641848" y="2331720"/>
            <a:ext cx="123444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0" y="242316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0F2FE"/>
                </a:solidFill>
              </a:rPr>
              <a:t>threshold 필터링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0F2FE"/>
                </a:solidFill>
              </a:rPr>
              <a:t>topK 개수 제한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0F2FE"/>
                </a:solidFill>
              </a:rPr>
              <a:t>maxContextChars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0F2FE"/>
                </a:solidFill>
              </a:rPr>
              <a:t>학습 파라미터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995160" y="23774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2E8F0"/>
                </a:solidFill>
              </a:rPr>
              <a:t>›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7223760" y="1005840"/>
            <a:ext cx="1508760" cy="3566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662672" y="1097280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62672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223760" y="18745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LLM 호출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360920" y="2331720"/>
            <a:ext cx="123444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96912" y="242316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0F2FE"/>
                </a:solidFill>
              </a:rPr>
              <a:t>요약 + 근거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0F2FE"/>
                </a:solidFill>
              </a:rPr>
              <a:t>확실하지 않은 점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0F2FE"/>
                </a:solidFill>
              </a:rPr>
              <a:t>추천 액션 (JSON)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0F2FE"/>
                </a:solidFill>
              </a:rPr>
              <a:t>토큰 사용량 기록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914400"/>
            <a:ext cx="2743200" cy="2743200"/>
          </a:xfrm>
          <a:prstGeom prst="ellipse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1C7293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적응형 피드백 학습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C39A"/>
                </a:solidFill>
              </a:rPr>
              <a:t>Evidence 피드백으로 검색 품질을 지속적으로 개선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"사용자가 어떤 evidence를 선호하는가를 학습 → 다음 검색부터 더 관련성 높은 청크를 우선 제공"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2651760" cy="26060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402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질문 유형 분류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401568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CBD5E1"/>
                </a:solidFill>
              </a:rPr>
              <a:t>길이 × 복잡도 × 소스</a:t>
            </a:r>
            <a:endParaRPr lang="en-US" sz="11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CBD5E1"/>
                </a:solidFill>
              </a:rPr>
              <a:t>= 16가지 독립 슬롯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55848" y="2148840"/>
            <a:ext cx="2651760" cy="26060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22402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47288" y="2880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ED7AA"/>
                </a:solidFill>
              </a:rPr>
              <a:t>스코어링 가중치 학습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47288" y="3401568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CBD5E1"/>
                </a:solidFill>
              </a:rPr>
              <a:t>7개 가중치를 피드백으로</a:t>
            </a:r>
            <a:endParaRPr lang="en-US" sz="11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CBD5E1"/>
                </a:solidFill>
              </a:rPr>
              <a:t>직접 업데이트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54496" y="2148840"/>
            <a:ext cx="2651760" cy="26060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4496" y="22402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45936" y="2880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B5FD"/>
                </a:solidFill>
              </a:rPr>
              <a:t>Bayesian 업데이트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45936" y="3401568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CBD5E1"/>
                </a:solidFill>
              </a:rPr>
              <a:t>Prior n=5, MAX_N=10</a:t>
            </a:r>
            <a:endParaRPr lang="en-US" sz="11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CBD5E1"/>
                </a:solidFill>
              </a:rPr>
              <a:t>비대칭 학습률 적용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</a:rPr>
              <a:t>Bayesian 스코어링 가중치 학습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학습되는 7개 가중치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45720" cy="42062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904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wKeywordBase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키워드 본문 매칭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68880" y="15544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65A82"/>
                </a:solidFill>
              </a:rPr>
              <a:t>기본 1.0  [0.5 ~ 3.0]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56816"/>
            <a:ext cx="3931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956816"/>
            <a:ext cx="45720" cy="42062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842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wFreqBonus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185416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키워드 반복 등장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68880" y="20482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65A82"/>
                </a:solidFill>
              </a:rPr>
              <a:t>기본 0.3  [0.0 ~ 1.0]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450592"/>
            <a:ext cx="3931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450592"/>
            <a:ext cx="45720" cy="42062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47802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wPositionBonus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267919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청크 앞부분 등장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68880" y="25420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65A82"/>
                </a:solidFill>
              </a:rPr>
              <a:t>기본 0.5  [0.0 ~ 1.5]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944368"/>
            <a:ext cx="3931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944368"/>
            <a:ext cx="45720" cy="42062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9718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wTitleMatch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3172968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제목 키워드 매칭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468880" y="30358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65A82"/>
                </a:solidFill>
              </a:rPr>
              <a:t>기본 0.8  [0.3 ~ 2.0]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438144"/>
            <a:ext cx="3931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438144"/>
            <a:ext cx="45720" cy="42062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46557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wFirstChunk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3666744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첫 번째 청크 여부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468880" y="352958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65A82"/>
                </a:solidFill>
              </a:rPr>
              <a:t>기본 1.0  [0.0 ~ 2.0]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931920"/>
            <a:ext cx="3931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931920"/>
            <a:ext cx="45720" cy="42062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9593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wMeetingType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4360" y="416052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회의록 소스 승수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68880" y="40233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65A82"/>
                </a:solidFill>
              </a:rPr>
              <a:t>기본 1.2  [0.8 ~ 2.0]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425696"/>
            <a:ext cx="3931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4425696"/>
            <a:ext cx="45720" cy="42062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44531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wTaskType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4360" y="4654296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태스크 소스 승수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468880" y="45171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65A82"/>
                </a:solidFill>
              </a:rPr>
              <a:t>기본 1.1  [0.8 ~ 1.8]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업데이트 공식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4754880" y="1463040"/>
            <a:ext cx="3931920" cy="13716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892040" y="1536192"/>
            <a:ext cx="36118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featureStrength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min(1, rawValue / 3)
</a:t>
            </a:r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current ± lr × strength × range
</a:t>
            </a:r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new_mean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(current×n + target) / (n+1)
</a:t>
            </a:r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FED7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min(stored_n, MAX_N)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54880" y="2971800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846320" y="300837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긍정 학습률 (LR+)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46320" y="32644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0.15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6739128" y="2971800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830568" y="300837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부정 학습률 (LR-)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830568" y="32644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</a:rPr>
              <a:t>0.05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4754880" y="3721608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846320" y="375818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Prior n (초기 확신도)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846320" y="401421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B5FD"/>
                </a:solidFill>
              </a:rPr>
              <a:t>5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6739128" y="3721608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830568" y="375818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MAX_N (상한선)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830568" y="401421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3C5FD"/>
                </a:solidFill>
              </a:rPr>
              <a:t>10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4754880" y="4572000"/>
            <a:ext cx="393192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0" y="45720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긍정 &gt; 부정 학습률: 급격한 품질 저하 방지 (비대칭 설계)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</a:rPr>
              <a:t>질문 유형 분류 — 16가지 학습 슬롯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길이 × 복잡도 × 소스 도메인  =  독립 파라미터 슬롯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43891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질문 유형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77440" y="1371600"/>
            <a:ext cx="1463040" cy="43891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137160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0" y="1371600"/>
            <a:ext cx="1463040" cy="43891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137160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meeting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03520" y="1371600"/>
            <a:ext cx="1463040" cy="43891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137160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document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66560" y="1371600"/>
            <a:ext cx="1463040" cy="43891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137160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mixed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1810512"/>
            <a:ext cx="192024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810512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short_simple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377440" y="1810512"/>
            <a:ext cx="1463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53512" y="1938528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0" y="1810512"/>
            <a:ext cx="1463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16552" y="1938528"/>
            <a:ext cx="274320" cy="274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0" y="1810512"/>
            <a:ext cx="1463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79592" y="1938528"/>
            <a:ext cx="274320" cy="2743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1810512"/>
            <a:ext cx="1463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42632" y="1938528"/>
            <a:ext cx="274320" cy="27432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340864"/>
            <a:ext cx="192024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340864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short_complex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377440" y="2340864"/>
            <a:ext cx="1463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53512" y="2468880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0" y="2340864"/>
            <a:ext cx="1463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16552" y="2468880"/>
            <a:ext cx="274320" cy="274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0" y="2340864"/>
            <a:ext cx="1463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79592" y="2468880"/>
            <a:ext cx="274320" cy="2743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0" y="2340864"/>
            <a:ext cx="1463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42632" y="2468880"/>
            <a:ext cx="274320" cy="27432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2871216"/>
            <a:ext cx="192024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2871216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long_simple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377440" y="2871216"/>
            <a:ext cx="1463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53512" y="2999232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40480" y="2871216"/>
            <a:ext cx="1463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16552" y="2999232"/>
            <a:ext cx="274320" cy="274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303520" y="2871216"/>
            <a:ext cx="1463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79592" y="2999232"/>
            <a:ext cx="274320" cy="2743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66560" y="2871216"/>
            <a:ext cx="1463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42632" y="2999232"/>
            <a:ext cx="274320" cy="27432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3401568"/>
            <a:ext cx="192024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3401568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long_complex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377440" y="3401568"/>
            <a:ext cx="1463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953512" y="3529584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840480" y="3401568"/>
            <a:ext cx="1463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416552" y="3529584"/>
            <a:ext cx="274320" cy="274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303520" y="3401568"/>
            <a:ext cx="1463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879592" y="3529584"/>
            <a:ext cx="274320" cy="2743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0" y="3401568"/>
            <a:ext cx="1463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42632" y="3529584"/>
            <a:ext cx="274320" cy="27432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669280" y="1417320"/>
            <a:ext cx="3017520" cy="71323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5742432" y="148132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6236208" y="148132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소스별 피드백이 서로 간섭하지 않음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669280" y="2258568"/>
            <a:ext cx="3017520" cy="71323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5742432" y="232257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6236208" y="2322576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git 학습이 meeting 검색에 영향 없음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669280" y="3099816"/>
            <a:ext cx="3017520" cy="71323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5742432" y="316382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🧊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6236208" y="3163824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Prior n=5로 콜드스타트 안정화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5669280" y="3941064"/>
            <a:ext cx="3017520" cy="71323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5742432" y="400507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6236208" y="400507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피드백 누적 시 해당 슬롯만 수렴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</a:rPr>
              <a:t>추가 구현 기능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114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411480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6070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💡  LLM 추천 액션 생성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시스템 프롬프트에 JSON 반환 지시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928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title / description / priority 구조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3113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파싱 실패 시 빈 배열 안전 처리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56946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기존 LLM 호출에 토큰 합산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28032" y="1005840"/>
            <a:ext cx="4114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28032" y="1005840"/>
            <a:ext cx="41148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5192" y="106070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🔄  학습 데이터 초기화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10912" y="1554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Settings 페이지 초기화 버튼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10912" y="18928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가중치 + 파라미터 + 피드백 삭제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10912" y="223113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n값 포함 완전 초기화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10912" y="256946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Electron 호환 인라인 확인 UI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4114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154680"/>
            <a:ext cx="41148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2095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✂️  소스별 청킹 전략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703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회의록: 발언자 단위 분리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0416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태스크: 목록 항목 단위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37997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문서: 마크다운 헤더(##) 단위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71830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Git: 커밋 해시 단위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28032" y="3154680"/>
            <a:ext cx="4114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28032" y="3154680"/>
            <a:ext cx="41148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32095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⚡  토큰 최적화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10912" y="3703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한/영 비율 동적 토큰 추정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10912" y="40416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불용어 사전 + 동의어 확장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10912" y="437997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트런케이션 시 생략 길이 힌트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10912" y="471830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ai_logs.token_used 자동 기록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</a:rPr>
              <a:t>한계 &amp; 향후 과제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현재 한계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74980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72768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904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키워드 기반 검색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79222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의미는 같지만 단어가 다른 경우 검색 불가 — 임베딩/벡터 검색 없음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3931920" cy="74980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441448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3591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피드백 신호 희소성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66090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적은 피드백으로 7개 가중치 학습 — Sparse Feedback 문제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3931920" cy="74980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310128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2278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userId = "default"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52958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멀티유저 미지원 — 현재 모든 사용자가 동일 파라미터 공유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3931920" cy="74980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178808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0965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wPositionBonus 비활성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439826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Git 청크 구조상 앞부분 키워드 등장이 적어 실질 학습 없음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향후 과제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54880" y="1463040"/>
            <a:ext cx="3931920" cy="74980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463040"/>
            <a:ext cx="502920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4630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49240" y="149047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임베딩 기반 시맨틱 검색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179222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text-embedding-3-small 하이브리드 검색 (키워드+의미)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331720"/>
            <a:ext cx="3931920" cy="74980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331720"/>
            <a:ext cx="502920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33172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49240" y="235915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Threshold 학습 파라미터화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49240" y="266090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topK 대신 scoreThreshold를 직접 학습으로 개수 제어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200400"/>
            <a:ext cx="3931920" cy="74980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200400"/>
            <a:ext cx="502920" cy="7498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2004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49240" y="322783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멀티유저 지원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49240" y="352958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사용자 계정별 독립 파라미터 슬롯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4069080"/>
            <a:ext cx="3931920" cy="74980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4069080"/>
            <a:ext cx="502920" cy="7498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40690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LOW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49240" y="409651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글로벌 피드백 집계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349240" y="439826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타 사용자 학습으로 콜드스타트 해결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3657600" cy="3657600"/>
          </a:xfrm>
          <a:prstGeom prst="ellipse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1C7293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65A82">
              <a:alpha val="20000"/>
            </a:srgbClr>
          </a:solidFill>
          <a:ln w="12700">
            <a:solidFill>
              <a:srgbClr val="065A82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결론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896112"/>
            <a:ext cx="22860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4114800" cy="15087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🏗️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80160" y="1207008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RAG 기반 멀티소스 통합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60020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Git · 회의록 · 태스크 · 문서를 단일 인터페이스에서 LLM으로 질의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28032" y="1097280"/>
            <a:ext cx="4114800" cy="15087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650992" y="1207008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적응형 피드백 학습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50992" y="160020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Evidence 피드백 → Bayesian 가중치 업데이트 → 검색 품질 개인화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4114800" cy="15087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🎛️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80160" y="2898648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16가지 독립 학습 슬롯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329184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질문 유형 × 소스 도메인별 분리로 간섭 없는 학습 보장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28032" y="2788920"/>
            <a:ext cx="4114800" cy="15087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192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650992" y="2898648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외부 의존성 없는 경량 설계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50992" y="329184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Electron + SQLite만으로 동작 — 임베딩 서버 불필요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감사합니다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기반 프로젝트 관리 도구</dc:title>
  <dc:subject>PptxGenJS Presentation</dc:subject>
  <dc:creator>PptxGenJS</dc:creator>
  <cp:lastModifiedBy>PptxGenJS</cp:lastModifiedBy>
  <cp:revision>1</cp:revision>
  <dcterms:created xsi:type="dcterms:W3CDTF">2026-06-05T11:22:53Z</dcterms:created>
  <dcterms:modified xsi:type="dcterms:W3CDTF">2026-06-05T11:22:53Z</dcterms:modified>
</cp:coreProperties>
</file>